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74" r:id="rId4"/>
    <p:sldId id="273" r:id="rId5"/>
    <p:sldId id="272" r:id="rId6"/>
    <p:sldId id="271" r:id="rId7"/>
    <p:sldId id="257" r:id="rId8"/>
    <p:sldId id="275" r:id="rId9"/>
    <p:sldId id="258" r:id="rId10"/>
    <p:sldId id="259" r:id="rId11"/>
    <p:sldId id="260" r:id="rId12"/>
    <p:sldId id="276" r:id="rId13"/>
    <p:sldId id="261" r:id="rId14"/>
    <p:sldId id="277" r:id="rId15"/>
    <p:sldId id="262" r:id="rId16"/>
    <p:sldId id="278" r:id="rId17"/>
    <p:sldId id="263" r:id="rId18"/>
    <p:sldId id="279" r:id="rId19"/>
    <p:sldId id="264" r:id="rId20"/>
    <p:sldId id="282" r:id="rId21"/>
    <p:sldId id="266" r:id="rId22"/>
    <p:sldId id="267" r:id="rId23"/>
    <p:sldId id="280" r:id="rId24"/>
    <p:sldId id="283" r:id="rId25"/>
    <p:sldId id="28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894C-D818-959C-A75E-897F8D4B47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AB092A-A914-888B-E2B6-B3E1A06480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915F0-61F4-853F-664C-EC5D19B21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B12D7-5E5A-4190-9458-41B27ACB731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B8B2E-1DDA-A85A-D4A0-66DDFD6FA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3D10D-F5DD-26D3-2411-0E27C171C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52B90-39C2-494C-91F7-C05038101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62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08B8E-0B8C-155F-F340-A826D73AF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71209-CF26-5A6B-BFE2-840E96BDD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34ECC-2288-E718-3750-E3279BC57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B12D7-5E5A-4190-9458-41B27ACB731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99717-29FA-FF9F-DBA6-89D02B3F8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0DBBD-13F4-7982-F824-D51B273BE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52B90-39C2-494C-91F7-C05038101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913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3E18D-3830-2084-4511-1B3228612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1171E-02D7-9E9C-781C-84EDCD96B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A348A-9B26-8072-F7C6-F8C09E98D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B12D7-5E5A-4190-9458-41B27ACB731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21673-BF73-72DE-F5A3-50F101736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E74EF-3372-FB1A-98AB-17188F8B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52B90-39C2-494C-91F7-C05038101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872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76CB5-50BF-CAB7-E567-A56CE27D5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FB171-9CF8-E039-DB54-F09A5C5CEC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A949B-D1A6-F1B0-D6C0-DACD9CBEA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2BA68-E41C-1C88-DE3C-1C8BC9A25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B12D7-5E5A-4190-9458-41B27ACB731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30B2B6-B4C6-56A8-2C05-BD6F02841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66D0E-52F3-C27A-B5B0-0ADF48A13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52B90-39C2-494C-91F7-C05038101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425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4FC24-C510-B432-C9F0-95F7ED195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656AF-7E46-FD22-DA17-648682602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E9038C-B1D5-CF5B-7973-FC3CB00D9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88196F-914B-B80A-C799-000A49DF42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E0231F-5145-071E-5319-6F24E44DE7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15DE54-7394-C5DC-21A1-5454E9933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B12D7-5E5A-4190-9458-41B27ACB731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1513C0-1AE2-1679-52D9-D29C85A1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AD8A57-2B67-CF57-2E04-275D46E93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52B90-39C2-494C-91F7-C05038101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612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9A3CA-7B70-595C-3A57-1C2306066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003F78-BE60-587B-FD3B-122457864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B12D7-5E5A-4190-9458-41B27ACB731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AD0922-8FC3-CF69-CA79-1E2FBCA9B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C1A62A-F09A-74DF-13EC-588FC6D1B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52B90-39C2-494C-91F7-C05038101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686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65A209-8957-64C8-BD0C-3C4EF26A2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B12D7-5E5A-4190-9458-41B27ACB731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29178D-4453-BCEB-DC3C-AEDA0F443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09F3C-FD97-ED9C-B78A-6774D46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52B90-39C2-494C-91F7-C05038101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244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652C5-E9F0-F90E-4AC7-7DBA19607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D7DBF-E109-5EC1-AFBA-B9D9A903B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1132A8-DE35-17B1-EBAE-0F0934B138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26ED85-DAF9-1E38-12AE-7425A79A6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B12D7-5E5A-4190-9458-41B27ACB731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1D099C-FEE0-7371-0277-89F5BA5DA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B1F05-E8E5-D4EA-FD85-412CEFF44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52B90-39C2-494C-91F7-C05038101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319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4C6DB-2860-1E71-7777-31DE7045A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625126-8336-3EA3-DA36-940E4CCFA4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42424E-D417-959A-C0B4-0958C30B85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B8C966-0D19-C964-DC1A-7A1D50574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B12D7-5E5A-4190-9458-41B27ACB731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64887C-48F7-D122-414C-01D87CF51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FB8D33-BA52-AF9A-6C61-94A4C469B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52B90-39C2-494C-91F7-C05038101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672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87181-EF11-9EC4-5891-2D1BEAF2E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52EA30-0378-D3C6-DC8A-460DC5BC5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6DD2E-1CF7-7047-1272-4E546AF0B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B12D7-5E5A-4190-9458-41B27ACB731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005B0-A845-635C-2713-24A1B3355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5D7C4-F859-2A65-F660-9343B95E4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52B90-39C2-494C-91F7-C05038101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094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948569-FA7D-C639-B150-E040399B8B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19669B-EC74-2E1F-7BE4-5B1184B593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D5DF3-3C05-78B4-E966-979BC4E2A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B12D7-5E5A-4190-9458-41B27ACB731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F8A87-03C8-51C5-0EEE-F792AF78D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0B479-295C-9D28-75B1-092737928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52B90-39C2-494C-91F7-C05038101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001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064F8F-DEA1-7FFB-0787-F7E347B24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7A231-8E0C-F81E-5ACB-E23975ECE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88338-748F-29D3-8678-2C84603E8B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B12D7-5E5A-4190-9458-41B27ACB7312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4E0E2-C7DD-D2D3-13CC-3B6BFC5114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B1878-8126-3F61-4D85-912FC8B000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352B90-39C2-494C-91F7-C05038101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904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13BAF-7A71-2F6E-94B8-E081375F83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3922" y="1647019"/>
            <a:ext cx="9144000" cy="2205453"/>
          </a:xfrm>
          <a:solidFill>
            <a:srgbClr val="C00000"/>
          </a:solidFill>
        </p:spPr>
        <p:txBody>
          <a:bodyPr>
            <a:norm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Zomato Orders and Restaurants Analysis</a:t>
            </a:r>
          </a:p>
        </p:txBody>
      </p:sp>
    </p:spTree>
    <p:extLst>
      <p:ext uri="{BB962C8B-B14F-4D97-AF65-F5344CB8AC3E}">
        <p14:creationId xmlns:p14="http://schemas.microsoft.com/office/powerpoint/2010/main" val="86307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12325-CA44-0335-B7B3-0740BE1F52BC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C00000"/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Task 1 SQL :</a:t>
            </a:r>
            <a:r>
              <a:rPr lang="en-US" sz="3600" dirty="0">
                <a:solidFill>
                  <a:schemeClr val="bg1"/>
                </a:solidFill>
              </a:rPr>
              <a:t>Upload Dataset into PostgreSQL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8B5B9-88C4-3E70-B8BE-7E0B3FC88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5291"/>
            <a:ext cx="10515600" cy="4351338"/>
          </a:xfrm>
        </p:spPr>
        <p:txBody>
          <a:bodyPr/>
          <a:lstStyle/>
          <a:p>
            <a:r>
              <a:rPr lang="en-US" dirty="0"/>
              <a:t> Created a Data Zomato_DB in Postgres SQL.</a:t>
            </a:r>
          </a:p>
          <a:p>
            <a:r>
              <a:rPr lang="en-US" dirty="0"/>
              <a:t>Created two table with names Zomato_orders and Zomato_Restaurants with respective Headers given in two data files.</a:t>
            </a:r>
          </a:p>
          <a:p>
            <a:r>
              <a:rPr lang="en-US" dirty="0"/>
              <a:t>Established Relationship between two tables and imported respective data to two tables.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059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FCA3D-F1BC-32ED-FD3E-7EF3A259E33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C00000"/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Task 2 SQL:</a:t>
            </a:r>
            <a:r>
              <a:rPr lang="en-US" b="1" dirty="0"/>
              <a:t> </a:t>
            </a:r>
            <a:r>
              <a:rPr lang="en-US" sz="3600" dirty="0">
                <a:solidFill>
                  <a:schemeClr val="bg1"/>
                </a:solidFill>
              </a:rPr>
              <a:t>Perform Simple Data Transformations Using SQL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5E09A-6F42-1281-8286-C3C6231F4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/>
          <a:lstStyle/>
          <a:p>
            <a:pPr fontAlgn="base"/>
            <a:r>
              <a:rPr lang="en-US" b="1" dirty="0"/>
              <a:t>Basic Data Cleaning</a:t>
            </a:r>
            <a:endParaRPr lang="en-US" dirty="0"/>
          </a:p>
          <a:p>
            <a:pPr lvl="1" fontAlgn="base"/>
            <a:r>
              <a:rPr lang="en-US" dirty="0"/>
              <a:t>Checked for duplicate records for order_id in Zomato_orders and Restaurant_id in Zomato_restaurants.</a:t>
            </a:r>
          </a:p>
          <a:p>
            <a:pPr lvl="1" fontAlgn="base"/>
            <a:r>
              <a:rPr lang="en-US" dirty="0"/>
              <a:t> Checked for NULL values in two tables but found nothing to replace</a:t>
            </a:r>
          </a:p>
          <a:p>
            <a:pPr marL="457200" lvl="1" indent="0" fontAlgn="base">
              <a:buNone/>
            </a:pPr>
            <a:endParaRPr lang="en-US" dirty="0"/>
          </a:p>
          <a:p>
            <a:pPr lvl="1" fontAlgn="base"/>
            <a:r>
              <a:rPr lang="en-US" dirty="0"/>
              <a:t>City wise Restaurant  and order count in which Mumbai Top the list in both.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092B25-E4ED-4F3A-79A3-E5C7DC31F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041" y="4091781"/>
            <a:ext cx="3697599" cy="2225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3A47A7-BCC0-3FFA-BEFF-9F01E16AD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821" y="4091781"/>
            <a:ext cx="3697599" cy="222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677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5">
            <a:extLst>
              <a:ext uri="{FF2B5EF4-FFF2-40B4-BE49-F238E27FC236}">
                <a16:creationId xmlns:a16="http://schemas.microsoft.com/office/drawing/2014/main" id="{95BF1819-A868-28FF-67B6-E19FFFF1D6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7782" y="3237875"/>
            <a:ext cx="4448218" cy="34327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81D5F7-4372-6405-1191-EE7495B8A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743" y="3237874"/>
            <a:ext cx="3821027" cy="34327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490C593-B303-C77C-350A-BC9B77F47FF5}"/>
              </a:ext>
            </a:extLst>
          </p:cNvPr>
          <p:cNvSpPr txBox="1"/>
          <p:nvPr/>
        </p:nvSpPr>
        <p:spPr>
          <a:xfrm>
            <a:off x="974361" y="2053652"/>
            <a:ext cx="10515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Total revenue generated by each restaurant and can find the Top 5 Restaurant with Highest Revenue In below list.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City Wise Avg Order Amount listed below in which Bangalore Top’s the list.</a:t>
            </a:r>
          </a:p>
          <a:p>
            <a:r>
              <a:rPr lang="en-US" sz="2000" dirty="0"/>
              <a:t> 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27C6EA4-8E82-FA1C-4D0B-9D0466CAC302}"/>
              </a:ext>
            </a:extLst>
          </p:cNvPr>
          <p:cNvSpPr txBox="1">
            <a:spLocks/>
          </p:cNvSpPr>
          <p:nvPr/>
        </p:nvSpPr>
        <p:spPr>
          <a:xfrm>
            <a:off x="974361" y="326568"/>
            <a:ext cx="10515600" cy="1325563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Task 2 SQL:</a:t>
            </a:r>
            <a:r>
              <a:rPr lang="en-US" b="1" dirty="0"/>
              <a:t> </a:t>
            </a:r>
            <a:r>
              <a:rPr lang="en-US" sz="3600" dirty="0">
                <a:solidFill>
                  <a:schemeClr val="bg1"/>
                </a:solidFill>
              </a:rPr>
              <a:t>Perform Simple Data Transformations Using SQL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00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53AA9-4D3B-E5AD-CCAD-775FBAC04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/>
              <a:t>Data Joins and the transformed dataset Exported</a:t>
            </a:r>
            <a:endParaRPr lang="en-US" dirty="0"/>
          </a:p>
          <a:p>
            <a:pPr lvl="1" fontAlgn="base"/>
            <a:r>
              <a:rPr lang="en-US" dirty="0"/>
              <a:t>Zomato_Orders and Zomato_Restaurants tables Joined using join function to get restaurant names along with order details </a:t>
            </a:r>
          </a:p>
          <a:p>
            <a:pPr lvl="1" fontAlgn="base"/>
            <a:r>
              <a:rPr lang="en-US" dirty="0"/>
              <a:t>Exported and Saved the joined table as Transformed data in an excel format.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50312F-7363-B745-59DB-9FC421FA5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206" y="3619264"/>
            <a:ext cx="9773587" cy="3066349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D4A0E24-399F-0E4E-DD4B-CF87B6E59349}"/>
              </a:ext>
            </a:extLst>
          </p:cNvPr>
          <p:cNvSpPr txBox="1">
            <a:spLocks/>
          </p:cNvSpPr>
          <p:nvPr/>
        </p:nvSpPr>
        <p:spPr>
          <a:xfrm>
            <a:off x="974361" y="326568"/>
            <a:ext cx="10515600" cy="1325563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Task 2 SQL:</a:t>
            </a:r>
            <a:r>
              <a:rPr lang="en-US" b="1" dirty="0"/>
              <a:t> </a:t>
            </a:r>
            <a:r>
              <a:rPr lang="en-US" sz="3600" dirty="0">
                <a:solidFill>
                  <a:schemeClr val="bg1"/>
                </a:solidFill>
              </a:rPr>
              <a:t>Perform Simple Data Transformations Using SQL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839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1AC63-DFAF-10B0-ACC0-F0C73FCA1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4068"/>
          </a:xfrm>
          <a:solidFill>
            <a:srgbClr val="C00000"/>
          </a:solidFill>
        </p:spPr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Task 3: </a:t>
            </a:r>
            <a:r>
              <a:rPr lang="en-US" sz="3600" b="1" dirty="0">
                <a:solidFill>
                  <a:schemeClr val="bg1"/>
                </a:solidFill>
              </a:rPr>
              <a:t>Power BI Analysis and Visualization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CE4FF-8FBF-529D-A7AC-7E5CC8D08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9036"/>
            <a:ext cx="11019020" cy="5163776"/>
          </a:xfrm>
        </p:spPr>
        <p:txBody>
          <a:bodyPr/>
          <a:lstStyle/>
          <a:p>
            <a:pPr marL="0" indent="0" fontAlgn="base">
              <a:buNone/>
            </a:pPr>
            <a:r>
              <a:rPr lang="en-US" sz="2400" b="1" dirty="0"/>
              <a:t>Import Data</a:t>
            </a:r>
            <a:endParaRPr lang="en-US" sz="2400" dirty="0"/>
          </a:p>
          <a:p>
            <a:pPr lvl="1" fontAlgn="base"/>
            <a:r>
              <a:rPr lang="en-US" dirty="0"/>
              <a:t>Imported excel file containing transformed data and Zomato_restaurants file in power bi.</a:t>
            </a:r>
          </a:p>
          <a:p>
            <a:pPr marL="0" indent="0" fontAlgn="base">
              <a:buNone/>
            </a:pPr>
            <a:r>
              <a:rPr lang="en-US" sz="2400" b="1" dirty="0"/>
              <a:t>Basic Data Cleaning</a:t>
            </a:r>
            <a:endParaRPr lang="en-US" sz="2400" dirty="0"/>
          </a:p>
          <a:p>
            <a:pPr lvl="1" fontAlgn="base"/>
            <a:r>
              <a:rPr lang="en-US" dirty="0"/>
              <a:t>checked the data types are correctly set in Power Query Editor.</a:t>
            </a:r>
          </a:p>
          <a:p>
            <a:pPr marL="0" indent="0" fontAlgn="base">
              <a:buNone/>
            </a:pPr>
            <a:r>
              <a:rPr lang="en-US" sz="2400" b="1" dirty="0"/>
              <a:t>Modeling Data Relationships</a:t>
            </a:r>
          </a:p>
          <a:p>
            <a:pPr fontAlgn="base"/>
            <a:r>
              <a:rPr lang="en-US" sz="2400" dirty="0"/>
              <a:t>Established relationship between two </a:t>
            </a:r>
          </a:p>
          <a:p>
            <a:pPr marL="0" indent="0" fontAlgn="base">
              <a:buNone/>
            </a:pPr>
            <a:r>
              <a:rPr lang="en-US" sz="2400" dirty="0"/>
              <a:t>Tables with Restaurant_id Column.</a:t>
            </a:r>
          </a:p>
          <a:p>
            <a:pPr fontAlgn="base"/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A82E63-1A42-B87B-B7D8-70CF926D3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161" y="3687580"/>
            <a:ext cx="5296639" cy="294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168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E6E46-6B97-DD6C-5F7F-FACC49425DA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C00000"/>
          </a:solidFill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Power BI Task 1: Number of Restaurants per City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8612C4-23D3-3B2A-89E1-9330497DF7BD}"/>
              </a:ext>
            </a:extLst>
          </p:cNvPr>
          <p:cNvSpPr txBox="1"/>
          <p:nvPr/>
        </p:nvSpPr>
        <p:spPr>
          <a:xfrm>
            <a:off x="614597" y="2063572"/>
            <a:ext cx="490053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City wise Restaurants list</a:t>
            </a:r>
          </a:p>
          <a:p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 Total 500 Restaurants,</a:t>
            </a:r>
          </a:p>
          <a:p>
            <a:r>
              <a:rPr lang="en-US" sz="2400" dirty="0"/>
              <a:t> Mumbai top’s the list with 115 count            and Chennai with least 91 count.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We can identify Area and city wise Restaurants counts.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7561AFE-4A1C-EAAD-77E4-C18815E7D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1212" y="2158585"/>
            <a:ext cx="5582587" cy="433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977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981A7-DC0C-23D8-3C04-83F259A2B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6E9ED-A291-04E1-2963-4F8D25890FD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C00000"/>
          </a:solidFill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Power BI Task 1: Number of Restaurants per City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AEB357-BA9D-0F23-2495-D87B56B129F7}"/>
              </a:ext>
            </a:extLst>
          </p:cNvPr>
          <p:cNvSpPr txBox="1"/>
          <p:nvPr/>
        </p:nvSpPr>
        <p:spPr>
          <a:xfrm>
            <a:off x="614597" y="1928660"/>
            <a:ext cx="5351488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Analyzed whether restaurant availability correlates with city population or food demand</a:t>
            </a:r>
          </a:p>
          <a:p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We need to focus First on Delhi with high population and food demand to increase Restaurant count with different cuisine.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Next Bangalore and Mumbai based on  food demand we can  increase Restaurant count with different cuisine.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80A6A6-BB4B-6A81-DBDC-EFD99E5B5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18348"/>
            <a:ext cx="5791200" cy="3867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303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FC52F-587F-8D14-E16D-70B35928E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93852"/>
          </a:xfrm>
          <a:solidFill>
            <a:srgbClr val="C00000"/>
          </a:solidFill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Task 2: </a:t>
            </a:r>
            <a:r>
              <a:rPr lang="en-US" sz="4000" b="1" dirty="0">
                <a:solidFill>
                  <a:schemeClr val="bg1"/>
                </a:solidFill>
              </a:rPr>
              <a:t>Percentage of Orders from Different Cities</a:t>
            </a:r>
            <a:endParaRPr lang="en-US" b="1" dirty="0">
              <a:solidFill>
                <a:schemeClr val="bg1"/>
              </a:solidFill>
              <a:effectLst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F32713-1B62-B9C6-6752-C8DAE141C8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91135" y="2188564"/>
            <a:ext cx="6056026" cy="43043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E27694-1E12-442B-A50E-99CC6FE8789E}"/>
              </a:ext>
            </a:extLst>
          </p:cNvPr>
          <p:cNvSpPr txBox="1"/>
          <p:nvPr/>
        </p:nvSpPr>
        <p:spPr>
          <a:xfrm>
            <a:off x="633335" y="2017006"/>
            <a:ext cx="525780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2400" b="1" dirty="0"/>
              <a:t>City wise Percentage and count of orders</a:t>
            </a:r>
            <a:endParaRPr lang="en-US" sz="2000" b="1" dirty="0"/>
          </a:p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Mumbai top’s the list with 22.56%(3384) and Chennai with least 18.18%.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Mumbai has 115 restaurants  Partner which is 23% and Chennai has 91 restaurants  partner which is 18.2%.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This Restaurants count % nearly matching with Order %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741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28E25-25CD-582C-A352-319F56F7894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C00000"/>
          </a:solidFill>
        </p:spPr>
        <p:txBody>
          <a:bodyPr/>
          <a:lstStyle/>
          <a:p>
            <a:r>
              <a:rPr lang="en-US" dirty="0"/>
              <a:t> </a:t>
            </a:r>
            <a:r>
              <a:rPr lang="en-US" b="1" dirty="0"/>
              <a:t> </a:t>
            </a:r>
            <a:r>
              <a:rPr lang="en-US" b="1" dirty="0">
                <a:solidFill>
                  <a:schemeClr val="bg1"/>
                </a:solidFill>
              </a:rPr>
              <a:t>Task 3</a:t>
            </a:r>
            <a:r>
              <a:rPr lang="en-US" sz="4000" b="1" dirty="0">
                <a:solidFill>
                  <a:schemeClr val="bg1"/>
                </a:solidFill>
              </a:rPr>
              <a:t>: Order Amount Trends Over Time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BD480A-BD6A-D28F-3CCA-A2465DA7E6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0911" y="2142400"/>
            <a:ext cx="5315692" cy="38676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22FF1D-F620-FB65-B179-9CD011648BB0}"/>
              </a:ext>
            </a:extLst>
          </p:cNvPr>
          <p:cNvSpPr txBox="1"/>
          <p:nvPr/>
        </p:nvSpPr>
        <p:spPr>
          <a:xfrm>
            <a:off x="645398" y="2142400"/>
            <a:ext cx="5315692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As per chart Total order amount by Month wise</a:t>
            </a:r>
          </a:p>
          <a:p>
            <a:r>
              <a:rPr lang="en-US" sz="2000" b="1" dirty="0"/>
              <a:t> 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April Month has 1376K Highest Revenue Followed by February second highest and June Month has 1261k Least Revenue followed by May month second least.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Based on January month trend  analysis during Pongal festival Season having low Sales and  Monday &amp; Tuesday having Low sale compare to other day of week.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Wednesday and Weekend having high sales when compare to other day of week.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860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98029-A0EB-7A61-37FF-2056585BBB0C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C00000"/>
          </a:solidFill>
        </p:spPr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Task 4: </a:t>
            </a:r>
            <a:r>
              <a:rPr lang="en-US" sz="4000" b="1" dirty="0">
                <a:solidFill>
                  <a:schemeClr val="bg1"/>
                </a:solidFill>
              </a:rPr>
              <a:t>Correlation of Factors Affecting Average Rating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91EEF66-31FB-1B14-8C45-B032833F65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55830" y="2368230"/>
            <a:ext cx="5516380" cy="40025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B182BC2-EB0B-1026-8FFA-B206A1F8E02C}"/>
              </a:ext>
            </a:extLst>
          </p:cNvPr>
          <p:cNvSpPr txBox="1"/>
          <p:nvPr/>
        </p:nvSpPr>
        <p:spPr>
          <a:xfrm>
            <a:off x="1214203" y="2368230"/>
            <a:ext cx="401736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Used scatter chart for Avg Delivery  time Vs Avg Rating with Restaurant wise.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can see Trend line which is showing a flat line so there is no correlation with delivery time with rating.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136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4714B-92B2-34D5-F43B-7C6CB1E85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55AF-6D9D-E980-31CD-E941D04C607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C00000"/>
          </a:solidFill>
        </p:spPr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Task 4: </a:t>
            </a:r>
            <a:r>
              <a:rPr lang="en-US" sz="4000" b="1" dirty="0">
                <a:solidFill>
                  <a:schemeClr val="bg1"/>
                </a:solidFill>
              </a:rPr>
              <a:t>Correlation of Factors Affecting Average Rating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CCE0A6-2421-88F4-9330-99A690A13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160" y="2554977"/>
            <a:ext cx="5268060" cy="33342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4EDF99-6588-4A77-BED5-F75CC94339B9}"/>
              </a:ext>
            </a:extLst>
          </p:cNvPr>
          <p:cNvSpPr txBox="1"/>
          <p:nvPr/>
        </p:nvSpPr>
        <p:spPr>
          <a:xfrm>
            <a:off x="838200" y="2533338"/>
            <a:ext cx="494800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Line chart used for Avg Rating Vs Total Rating to find any correlation.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can see Slight slope in Trend line which indicates higher Total Rating having less avg Rating.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898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BB0DD-DAC2-7B3C-A64E-6F95A3320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Task 4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73F57F-3F6D-F220-8893-7FBE1C2ECA76}"/>
              </a:ext>
            </a:extLst>
          </p:cNvPr>
          <p:cNvSpPr txBox="1">
            <a:spLocks/>
          </p:cNvSpPr>
          <p:nvPr/>
        </p:nvSpPr>
        <p:spPr>
          <a:xfrm>
            <a:off x="1018082" y="365125"/>
            <a:ext cx="10515600" cy="1325563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Task 4: </a:t>
            </a:r>
            <a:r>
              <a:rPr lang="en-US" sz="4000" b="1" dirty="0">
                <a:solidFill>
                  <a:schemeClr val="bg1"/>
                </a:solidFill>
              </a:rPr>
              <a:t>Correlation of Factors Affecting Average Rating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B97FB5-FB03-0CE5-A08F-BA04B7302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0525" y="2263515"/>
            <a:ext cx="4901783" cy="4017364"/>
          </a:xfrm>
          <a:prstGeom prst="rect">
            <a:avLst/>
          </a:prstGeo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5F3176B-9230-852A-8D47-DD07DEE13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3516"/>
            <a:ext cx="5097905" cy="3282846"/>
          </a:xfrm>
        </p:spPr>
        <p:txBody>
          <a:bodyPr/>
          <a:lstStyle/>
          <a:p>
            <a:r>
              <a:rPr lang="en-US" sz="2400" dirty="0"/>
              <a:t>Bar chart used for Price Range Vs Avg Rating.</a:t>
            </a:r>
          </a:p>
          <a:p>
            <a:r>
              <a:rPr lang="en-US" sz="2400" dirty="0"/>
              <a:t>We can see not much deviation based  on price range so no correlation.</a:t>
            </a:r>
          </a:p>
          <a:p>
            <a:r>
              <a:rPr lang="en-US" sz="2400" dirty="0"/>
              <a:t>Low price range restaurants having slightly lower avg rating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66393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22CE8-686B-8574-B4AC-9324FF173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CE5E4-09BC-2E7D-AEC3-315AFF713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Task 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682716-BD68-DD42-2509-51AF361AA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148" y="2608631"/>
            <a:ext cx="5258534" cy="308653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0297FB2-1FFD-CFB2-5BB0-7E7BECCDB94F}"/>
              </a:ext>
            </a:extLst>
          </p:cNvPr>
          <p:cNvSpPr txBox="1">
            <a:spLocks/>
          </p:cNvSpPr>
          <p:nvPr/>
        </p:nvSpPr>
        <p:spPr>
          <a:xfrm>
            <a:off x="1018082" y="365125"/>
            <a:ext cx="10515600" cy="1325563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Task 4: </a:t>
            </a:r>
            <a:r>
              <a:rPr lang="en-US" sz="4000" b="1" dirty="0">
                <a:solidFill>
                  <a:schemeClr val="bg1"/>
                </a:solidFill>
              </a:rPr>
              <a:t>Correlation of Factors Affecting Average Rating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251CEB-BE42-6041-97F1-FF8D01356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8631"/>
            <a:ext cx="4543269" cy="3086531"/>
          </a:xfrm>
        </p:spPr>
        <p:txBody>
          <a:bodyPr>
            <a:normAutofit/>
          </a:bodyPr>
          <a:lstStyle/>
          <a:p>
            <a:r>
              <a:rPr lang="en-US" sz="2400" dirty="0"/>
              <a:t>Scatter chart used for Avg Rating Vs Total Orders with restaurants wise.</a:t>
            </a:r>
          </a:p>
          <a:p>
            <a:r>
              <a:rPr lang="en-US" sz="2400" dirty="0"/>
              <a:t>Trend line is flat shows no correlation between Avg Rating and Total Orders.</a:t>
            </a:r>
          </a:p>
        </p:txBody>
      </p:sp>
    </p:spTree>
    <p:extLst>
      <p:ext uri="{BB962C8B-B14F-4D97-AF65-F5344CB8AC3E}">
        <p14:creationId xmlns:p14="http://schemas.microsoft.com/office/powerpoint/2010/main" val="599114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CD593-E0AD-078E-A837-E3C607BC3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854128" cy="1133889"/>
          </a:xfrm>
          <a:solidFill>
            <a:srgbClr val="C00000"/>
          </a:solidFill>
        </p:spPr>
        <p:txBody>
          <a:bodyPr/>
          <a:lstStyle/>
          <a:p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Task 5: </a:t>
            </a:r>
            <a:r>
              <a:rPr lang="en-US" sz="4000" b="1" dirty="0">
                <a:solidFill>
                  <a:schemeClr val="bg1"/>
                </a:solidFill>
              </a:rPr>
              <a:t>Top 5 Restaurants by Total Sales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7BDEEDD-15E4-0EAB-E15C-7E0A282C2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28475" cy="4351338"/>
          </a:xfrm>
        </p:spPr>
        <p:txBody>
          <a:bodyPr>
            <a:normAutofit/>
          </a:bodyPr>
          <a:lstStyle/>
          <a:p>
            <a:r>
              <a:rPr lang="en-US" sz="2400" dirty="0"/>
              <a:t>Top 5 Restaurants with highest revenue are Restaurant 116, Restaurant 262, Restaurant 56, Restaurant 27, Restaurant 127.</a:t>
            </a:r>
          </a:p>
          <a:p>
            <a:r>
              <a:rPr lang="en-US" sz="2400" dirty="0"/>
              <a:t>Top two belongs to Bangalore.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DF12C1-6591-A774-32B6-48631B4AD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469" y="1825625"/>
            <a:ext cx="6310859" cy="4667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626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9C6D8-734B-0394-25EC-7F237298E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69A5F-5766-ADAF-FDE0-A81E30CB5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854128" cy="1133889"/>
          </a:xfrm>
          <a:solidFill>
            <a:srgbClr val="C00000"/>
          </a:solidFill>
        </p:spPr>
        <p:txBody>
          <a:bodyPr/>
          <a:lstStyle/>
          <a:p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Task 5: </a:t>
            </a:r>
            <a:r>
              <a:rPr lang="en-US" sz="4000" b="1" dirty="0">
                <a:solidFill>
                  <a:schemeClr val="bg1"/>
                </a:solidFill>
              </a:rPr>
              <a:t>Top 5 Restaurants by Total Sales Analysis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22A568A-7EC4-207A-820A-EF2854FD47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838688"/>
              </p:ext>
            </p:extLst>
          </p:nvPr>
        </p:nvGraphicFramePr>
        <p:xfrm>
          <a:off x="1101152" y="1888760"/>
          <a:ext cx="10328223" cy="4437093"/>
        </p:xfrm>
        <a:graphic>
          <a:graphicData uri="http://schemas.openxmlformats.org/drawingml/2006/table">
            <a:tbl>
              <a:tblPr/>
              <a:tblGrid>
                <a:gridCol w="2159822">
                  <a:extLst>
                    <a:ext uri="{9D8B030D-6E8A-4147-A177-3AD203B41FA5}">
                      <a16:colId xmlns:a16="http://schemas.microsoft.com/office/drawing/2014/main" val="3176760955"/>
                    </a:ext>
                  </a:extLst>
                </a:gridCol>
                <a:gridCol w="1305940">
                  <a:extLst>
                    <a:ext uri="{9D8B030D-6E8A-4147-A177-3AD203B41FA5}">
                      <a16:colId xmlns:a16="http://schemas.microsoft.com/office/drawing/2014/main" val="3670031912"/>
                    </a:ext>
                  </a:extLst>
                </a:gridCol>
                <a:gridCol w="1205482">
                  <a:extLst>
                    <a:ext uri="{9D8B030D-6E8A-4147-A177-3AD203B41FA5}">
                      <a16:colId xmlns:a16="http://schemas.microsoft.com/office/drawing/2014/main" val="1732355249"/>
                    </a:ext>
                  </a:extLst>
                </a:gridCol>
                <a:gridCol w="1205482">
                  <a:extLst>
                    <a:ext uri="{9D8B030D-6E8A-4147-A177-3AD203B41FA5}">
                      <a16:colId xmlns:a16="http://schemas.microsoft.com/office/drawing/2014/main" val="1221934239"/>
                    </a:ext>
                  </a:extLst>
                </a:gridCol>
                <a:gridCol w="1337333">
                  <a:extLst>
                    <a:ext uri="{9D8B030D-6E8A-4147-A177-3AD203B41FA5}">
                      <a16:colId xmlns:a16="http://schemas.microsoft.com/office/drawing/2014/main" val="2889800435"/>
                    </a:ext>
                  </a:extLst>
                </a:gridCol>
                <a:gridCol w="1607310">
                  <a:extLst>
                    <a:ext uri="{9D8B030D-6E8A-4147-A177-3AD203B41FA5}">
                      <a16:colId xmlns:a16="http://schemas.microsoft.com/office/drawing/2014/main" val="2092046079"/>
                    </a:ext>
                  </a:extLst>
                </a:gridCol>
                <a:gridCol w="1506854">
                  <a:extLst>
                    <a:ext uri="{9D8B030D-6E8A-4147-A177-3AD203B41FA5}">
                      <a16:colId xmlns:a16="http://schemas.microsoft.com/office/drawing/2014/main" val="3536497757"/>
                    </a:ext>
                  </a:extLst>
                </a:gridCol>
              </a:tblGrid>
              <a:tr h="7711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Restaurant_name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city</a:t>
                      </a: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Area</a:t>
                      </a: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cuisine</a:t>
                      </a: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Avg_rating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Total_ratings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Price_range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518828"/>
                  </a:ext>
                </a:extLst>
              </a:tr>
              <a:tr h="7711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Restaurant_116</a:t>
                      </a: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Bangalore</a:t>
                      </a: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Area_C</a:t>
                      </a:r>
                      <a:endParaRPr lang="en-US" sz="18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Indian</a:t>
                      </a: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4.8</a:t>
                      </a: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982</a:t>
                      </a: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Low</a:t>
                      </a: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9201643"/>
                  </a:ext>
                </a:extLst>
              </a:tr>
              <a:tr h="58129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Restaurant_262</a:t>
                      </a: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Bangalore</a:t>
                      </a: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Area_D</a:t>
                      </a:r>
                      <a:endParaRPr lang="en-US" sz="18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Mexican</a:t>
                      </a: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2.5</a:t>
                      </a: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1388</a:t>
                      </a: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Medium</a:t>
                      </a: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2159490"/>
                  </a:ext>
                </a:extLst>
              </a:tr>
              <a:tr h="7711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Restaurant_56</a:t>
                      </a: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Area_E</a:t>
                      </a:r>
                      <a:endParaRPr lang="en-US" sz="18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Thai</a:t>
                      </a: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4.6</a:t>
                      </a: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2336</a:t>
                      </a: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Low</a:t>
                      </a: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908711"/>
                  </a:ext>
                </a:extLst>
              </a:tr>
              <a:tr h="7711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Restaurant_27</a:t>
                      </a: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Delhi</a:t>
                      </a: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Area_E</a:t>
                      </a: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Italian</a:t>
                      </a: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2.6</a:t>
                      </a: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542</a:t>
                      </a: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535982"/>
                  </a:ext>
                </a:extLst>
              </a:tr>
              <a:tr h="7711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Restaurant_127</a:t>
                      </a: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Bangalore</a:t>
                      </a: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Area_B</a:t>
                      </a: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Indian</a:t>
                      </a: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4.4</a:t>
                      </a: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3888</a:t>
                      </a: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ctr" anchorCtr="1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840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6019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ED8FD-8C54-4DD6-1252-40D34F9F637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C00000"/>
          </a:solidFill>
        </p:spPr>
        <p:txBody>
          <a:bodyPr/>
          <a:lstStyle/>
          <a:p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Task 6: </a:t>
            </a:r>
            <a:r>
              <a:rPr lang="en-US" sz="3600" b="1" dirty="0">
                <a:solidFill>
                  <a:schemeClr val="bg1"/>
                </a:solidFill>
              </a:rPr>
              <a:t>Revenue by Area Using a Tree Map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A28C2F-438D-A0CC-11EF-339D8947B59E}"/>
              </a:ext>
            </a:extLst>
          </p:cNvPr>
          <p:cNvSpPr txBox="1"/>
          <p:nvPr/>
        </p:nvSpPr>
        <p:spPr>
          <a:xfrm>
            <a:off x="509666" y="2488367"/>
            <a:ext cx="38824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Area A has Highest Revenue and Area E has least Revenue.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AD8AD93-59AB-596B-64D7-7D748831F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118" y="2158584"/>
            <a:ext cx="7097115" cy="433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6142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67F02-5CB8-98A1-2AD0-A0B1E3611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53524-0F61-4C59-757B-64553DA64FA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C00000"/>
          </a:solidFill>
        </p:spPr>
        <p:txBody>
          <a:bodyPr/>
          <a:lstStyle/>
          <a:p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Task 6: </a:t>
            </a:r>
            <a:r>
              <a:rPr lang="en-US" sz="3600" b="1" dirty="0">
                <a:solidFill>
                  <a:schemeClr val="bg1"/>
                </a:solidFill>
              </a:rPr>
              <a:t>Revenue by Area Using a Tree Map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63AFD9-23D3-0B8D-F805-8E4136977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322" y="2848130"/>
            <a:ext cx="10319476" cy="35226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D4E924-6D61-3C7E-34AA-CDB45867C5F7}"/>
              </a:ext>
            </a:extLst>
          </p:cNvPr>
          <p:cNvSpPr txBox="1"/>
          <p:nvPr/>
        </p:nvSpPr>
        <p:spPr>
          <a:xfrm>
            <a:off x="1034322" y="2143593"/>
            <a:ext cx="103194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Order per Area is not Effecting Revenue and Avg Amount has no Effecting the area wise Revenue</a:t>
            </a:r>
          </a:p>
        </p:txBody>
      </p:sp>
    </p:spTree>
    <p:extLst>
      <p:ext uri="{BB962C8B-B14F-4D97-AF65-F5344CB8AC3E}">
        <p14:creationId xmlns:p14="http://schemas.microsoft.com/office/powerpoint/2010/main" val="2231409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D2E8D-5421-8B95-DFC8-808A0270E54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C00000"/>
          </a:solidFill>
        </p:spPr>
        <p:txBody>
          <a:bodyPr/>
          <a:lstStyle/>
          <a:p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Task 7: </a:t>
            </a:r>
            <a:r>
              <a:rPr lang="en-US" sz="4000" b="1" dirty="0">
                <a:solidFill>
                  <a:schemeClr val="bg1"/>
                </a:solidFill>
              </a:rPr>
              <a:t>Order Density by City Using a Heat Map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E6804B-D583-805D-2795-0F4B05836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53918" cy="4351338"/>
          </a:xfrm>
        </p:spPr>
        <p:txBody>
          <a:bodyPr>
            <a:normAutofit/>
          </a:bodyPr>
          <a:lstStyle/>
          <a:p>
            <a:r>
              <a:rPr lang="en-US" sz="2400" dirty="0"/>
              <a:t>If we rank City wise  Restaurants count it is matching with Ranking of City wise orders count.</a:t>
            </a:r>
          </a:p>
          <a:p>
            <a:r>
              <a:rPr lang="en-US" sz="2400" dirty="0"/>
              <a:t>So Supply is meeting the Demand.</a:t>
            </a:r>
          </a:p>
          <a:p>
            <a:r>
              <a:rPr lang="en-US" sz="2400" dirty="0"/>
              <a:t>Cuisine orders count in which Thai top list. </a:t>
            </a:r>
          </a:p>
          <a:p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5043B3-ADA7-6BD5-C7B7-4C681AAA9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5620" y="1825625"/>
            <a:ext cx="2778180" cy="27201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C5B7B6-D5F7-2AC3-BC72-FCACEB871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5261" y="1894954"/>
            <a:ext cx="2538338" cy="258148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4F1417-CA2C-80B5-6035-3E1777D0B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5261" y="4545768"/>
            <a:ext cx="6038540" cy="231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7497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537F46-948A-8C11-E135-6D1E2059CD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2767" y="3429000"/>
            <a:ext cx="7951033" cy="306387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0E3F096-5C60-DB1C-91F3-76076C611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rgbClr val="C00000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Task 8: </a:t>
            </a:r>
            <a:r>
              <a:rPr lang="en-US" sz="4000" b="1" dirty="0">
                <a:solidFill>
                  <a:schemeClr val="bg1"/>
                </a:solidFill>
              </a:rPr>
              <a:t>KPI Cards – Total Revenue &amp; Average Order Value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A6AA79-E3E7-767D-DE89-1220A4854D83}"/>
              </a:ext>
            </a:extLst>
          </p:cNvPr>
          <p:cNvSpPr txBox="1"/>
          <p:nvPr/>
        </p:nvSpPr>
        <p:spPr>
          <a:xfrm>
            <a:off x="434715" y="2415550"/>
            <a:ext cx="268323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If we see Revenue Trend Quarterly wise Q3 having Peak and Q4 is 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If we see Orders count Trend Quarterly wise Q2 having Peak and Q4 is 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E17B83-929C-286D-A1A1-BBC3D3694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767" y="1897062"/>
            <a:ext cx="795103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143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76806-427F-5CAB-21E6-D8ED2CB64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9059"/>
          </a:xfrm>
          <a:solidFill>
            <a:srgbClr val="C00000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Task 9: </a:t>
            </a:r>
            <a:r>
              <a:rPr lang="en-US" sz="4000" b="1" dirty="0">
                <a:solidFill>
                  <a:schemeClr val="bg1"/>
                </a:solidFill>
              </a:rPr>
              <a:t>Restaurant-Wise Sales Summary in a Table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F32091C-CEA5-BA18-CEB1-7ACC651E1A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1514" y="1516141"/>
            <a:ext cx="9188971" cy="497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0615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31BED46-471A-39A9-39FC-0713155FB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2729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C5B30-1E92-643A-BBE2-95CF21276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911"/>
            <a:ext cx="10869118" cy="824459"/>
          </a:xfrm>
          <a:solidFill>
            <a:srgbClr val="C00000"/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Recommendations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C2217-69A3-2C86-8DC3-FBE9F33F5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4164"/>
            <a:ext cx="11004030" cy="5583836"/>
          </a:xfrm>
        </p:spPr>
        <p:txBody>
          <a:bodyPr>
            <a:normAutofit/>
          </a:bodyPr>
          <a:lstStyle/>
          <a:p>
            <a:r>
              <a:rPr lang="en-US" sz="2400" dirty="0"/>
              <a:t>Avg orders day is 44.6 but we have 500 restaurants in total which means near 455 Restaurant having zero orders daily basis.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Improve Visibility and pricing strategy to increase orders and revenue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Join Recommended and Trending sections in Zomato 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high-quality food images 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Keep menu names simple and searchable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combo offers (meal + drink) 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Add ₹99 / ₹149 budget items 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Apply limited-time discounts (10–20%) during non-peak times.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/>
              <a:t> Highlight top-selling items 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/>
              <a:t>Remove slow-moving dishes for menu optimization.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D0CBCE3-FFE8-58BF-C21B-13C72FF37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2951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8ABDF-8677-C97B-E273-864266DC1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can reduce avg delivery time  52.39 min by Keeping preparation time accurate and increasing  Delivery agents count Based on demand daily basis.</a:t>
            </a:r>
          </a:p>
          <a:p>
            <a:r>
              <a:rPr lang="en-US" dirty="0"/>
              <a:t>Giving offers and discount on Weekdays like Monday, Tuesday and Thursday to increase sales which having lower sale compare to other days.</a:t>
            </a:r>
          </a:p>
          <a:p>
            <a:r>
              <a:rPr lang="en-US" dirty="0"/>
              <a:t> First need to focus on Delhi city for expansion which has higher population and Food demand (due to Heavy traffics) with different cuisines which are having high demand.</a:t>
            </a:r>
          </a:p>
          <a:p>
            <a:r>
              <a:rPr lang="en-US" dirty="0"/>
              <a:t>In Bangalore and Delhi city Restaurants Generating high sales Revenue with cuisines Mexican and Italian but having low rating so need  improvement in food Quality 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28F425C-B925-B317-D561-1D7F66FC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rgbClr val="C00000"/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Recommendations  </a:t>
            </a:r>
          </a:p>
        </p:txBody>
      </p:sp>
    </p:spTree>
    <p:extLst>
      <p:ext uri="{BB962C8B-B14F-4D97-AF65-F5344CB8AC3E}">
        <p14:creationId xmlns:p14="http://schemas.microsoft.com/office/powerpoint/2010/main" val="40295811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87E49-935D-C2DA-182E-D67AE3CC7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7039" y="1609309"/>
            <a:ext cx="6462010" cy="2947701"/>
          </a:xfrm>
          <a:solidFill>
            <a:srgbClr val="C00000"/>
          </a:solidFill>
        </p:spPr>
        <p:txBody>
          <a:bodyPr/>
          <a:lstStyle/>
          <a:p>
            <a:pPr algn="ctr"/>
            <a:r>
              <a:rPr lang="en-US" dirty="0"/>
              <a:t> </a:t>
            </a:r>
            <a:r>
              <a:rPr lang="en-US" sz="8800" dirty="0">
                <a:solidFill>
                  <a:schemeClr val="bg1"/>
                </a:solidFill>
              </a:rPr>
              <a:t>THANK YOU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91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4204</TotalTime>
  <Words>1160</Words>
  <Application>Microsoft Office PowerPoint</Application>
  <PresentationFormat>Widescreen</PresentationFormat>
  <Paragraphs>153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Zomato Orders and Restaurants Analysis</vt:lpstr>
      <vt:lpstr>Task 1 SQL :Upload Dataset into PostgreSQL</vt:lpstr>
      <vt:lpstr>Task 2 SQL: Perform Simple Data Transformations Using SQL</vt:lpstr>
      <vt:lpstr>PowerPoint Presentation</vt:lpstr>
      <vt:lpstr>PowerPoint Presentation</vt:lpstr>
      <vt:lpstr> Task 3: Power BI Analysis and Visualization</vt:lpstr>
      <vt:lpstr>Power BI Task 1: Number of Restaurants per City</vt:lpstr>
      <vt:lpstr>Power BI Task 1: Number of Restaurants per City</vt:lpstr>
      <vt:lpstr>Task 2: Percentage of Orders from Different Cities</vt:lpstr>
      <vt:lpstr>  Task 3: Order Amount Trends Over Time</vt:lpstr>
      <vt:lpstr> Task 4: Correlation of Factors Affecting Average Rating</vt:lpstr>
      <vt:lpstr> Task 4: Correlation of Factors Affecting Average Rating</vt:lpstr>
      <vt:lpstr> Task 4</vt:lpstr>
      <vt:lpstr> Task 4</vt:lpstr>
      <vt:lpstr> Task 5: Top 5 Restaurants by Total Sales</vt:lpstr>
      <vt:lpstr> Task 5: Top 5 Restaurants by Total Sales Analysis</vt:lpstr>
      <vt:lpstr> Task 6: Revenue by Area Using a Tree Map</vt:lpstr>
      <vt:lpstr> Task 6: Revenue by Area Using a Tree Map</vt:lpstr>
      <vt:lpstr> Task 7: Order Density by City Using a Heat Map</vt:lpstr>
      <vt:lpstr>Task 8: KPI Cards – Total Revenue &amp; Average Order Value</vt:lpstr>
      <vt:lpstr>Task 9: Restaurant-Wise Sales Summary in a Table</vt:lpstr>
      <vt:lpstr>PowerPoint Presentation</vt:lpstr>
      <vt:lpstr>Recommendations  </vt:lpstr>
      <vt:lpstr>Recommendations  </vt:lpstr>
      <vt:lpstr>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21</cp:revision>
  <dcterms:created xsi:type="dcterms:W3CDTF">2026-04-29T08:11:05Z</dcterms:created>
  <dcterms:modified xsi:type="dcterms:W3CDTF">2026-05-02T06:16:00Z</dcterms:modified>
</cp:coreProperties>
</file>